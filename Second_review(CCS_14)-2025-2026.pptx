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8" r:id="rId4"/>
    <p:sldId id="259" r:id="rId5"/>
    <p:sldId id="257" r:id="rId6"/>
    <p:sldId id="260" r:id="rId7"/>
    <p:sldId id="261" r:id="rId8"/>
    <p:sldId id="262" r:id="rId9"/>
    <p:sldId id="271" r:id="rId10"/>
    <p:sldId id="264" r:id="rId11"/>
    <p:sldId id="263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65D"/>
    <a:srgbClr val="717171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12880" y="1143000"/>
            <a:ext cx="10667520" cy="49525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1066752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12880" y="274680"/>
            <a:ext cx="10667520" cy="2259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1288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7912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12880" y="3729960"/>
            <a:ext cx="1066752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1066752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12880" y="3729960"/>
            <a:ext cx="1066752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1288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7912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419720" y="114300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026560" y="114300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12880" y="372996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419720" y="372996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026560" y="372996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812880" y="1143000"/>
            <a:ext cx="10667520" cy="495252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1066752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812880" y="274680"/>
            <a:ext cx="10667520" cy="22590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81288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4952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27912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812880" y="3729960"/>
            <a:ext cx="1066752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1066752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12880" y="3729960"/>
            <a:ext cx="1066752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279120" y="114300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81288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279120" y="3729960"/>
            <a:ext cx="520560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812880" y="114300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419720" y="114300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8026560" y="114300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812880" y="372996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4419720" y="372996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8026560" y="3729960"/>
            <a:ext cx="3434760" cy="23623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/>
          <p:cNvSpPr/>
          <p:nvPr/>
        </p:nvSpPr>
        <p:spPr>
          <a:xfrm>
            <a:off x="812880" y="914400"/>
            <a:ext cx="106675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" name="Google Shape;12;p1"/>
          <p:cNvPicPr/>
          <p:nvPr/>
        </p:nvPicPr>
        <p:blipFill>
          <a:blip r:embed="rId14"/>
          <a:srcRect b="18053"/>
          <a:stretch/>
        </p:blipFill>
        <p:spPr>
          <a:xfrm>
            <a:off x="0" y="5991480"/>
            <a:ext cx="12191760" cy="866160"/>
          </a:xfrm>
          <a:prstGeom prst="rect">
            <a:avLst/>
          </a:prstGeom>
          <a:ln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1050840" y="1322280"/>
            <a:ext cx="1036296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609480" y="6356520"/>
            <a:ext cx="28447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42AB1E7-0A02-400D-997E-3CEB1DCB8C80}" type="slidenum">
              <a:rPr lang="en-US" sz="1200" b="0" strike="noStrike" spc="-1">
                <a:solidFill>
                  <a:srgbClr val="888888"/>
                </a:solidFill>
                <a:latin typeface="Verdana"/>
                <a:ea typeface="Verdana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/>
          <p:cNvSpPr/>
          <p:nvPr/>
        </p:nvSpPr>
        <p:spPr>
          <a:xfrm>
            <a:off x="812880" y="914400"/>
            <a:ext cx="106675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4" name="Google Shape;12;p1"/>
          <p:cNvPicPr/>
          <p:nvPr/>
        </p:nvPicPr>
        <p:blipFill>
          <a:blip r:embed="rId14"/>
          <a:srcRect b="18053"/>
          <a:stretch/>
        </p:blipFill>
        <p:spPr>
          <a:xfrm>
            <a:off x="0" y="5991480"/>
            <a:ext cx="12191760" cy="866160"/>
          </a:xfrm>
          <a:prstGeom prst="rect">
            <a:avLst/>
          </a:prstGeom>
          <a:ln>
            <a:noFill/>
          </a:ln>
        </p:spPr>
      </p:pic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812880" y="274680"/>
            <a:ext cx="10667520" cy="4870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12880" y="1143000"/>
            <a:ext cx="10667520" cy="49525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dt"/>
          </p:nvPr>
        </p:nvSpPr>
        <p:spPr>
          <a:xfrm>
            <a:off x="609480" y="6356520"/>
            <a:ext cx="28447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/>
          </p:nvPr>
        </p:nvSpPr>
        <p:spPr>
          <a:xfrm>
            <a:off x="8737560" y="6356520"/>
            <a:ext cx="28447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3752FF0-F620-450E-BB04-17CF545943D2}" type="slidenum">
              <a:rPr lang="en-US" sz="1200" b="0" strike="noStrike" spc="-1">
                <a:solidFill>
                  <a:srgbClr val="888888"/>
                </a:solidFill>
                <a:latin typeface="Verdana"/>
                <a:ea typeface="Verdana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hishguardai252-png/phishguard-ai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790560" y="2045520"/>
            <a:ext cx="4390920" cy="3535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4000"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Batch Number: </a:t>
            </a:r>
            <a:r>
              <a:rPr lang="en-US" b="1" spc="-1" dirty="0">
                <a:solidFill>
                  <a:srgbClr val="17365D"/>
                </a:solidFill>
                <a:latin typeface="Cambria"/>
                <a:ea typeface="Cambria"/>
              </a:rPr>
              <a:t>C</a:t>
            </a:r>
            <a:r>
              <a:rPr lang="en-US" sz="1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CS_14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6480360" y="2513520"/>
            <a:ext cx="5514120" cy="202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Under the Supervision of,</a:t>
            </a:r>
            <a:endParaRPr lang="en-US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 dirty="0">
              <a:latin typeface="Arial"/>
            </a:endParaRPr>
          </a:p>
          <a:p>
            <a:pPr algn="just">
              <a:spcBef>
                <a:spcPts val="340"/>
              </a:spcBef>
            </a:pPr>
            <a:r>
              <a:rPr lang="de-DE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Dr.Shanthi S</a:t>
            </a:r>
            <a:r>
              <a:rPr lang="de-DE" sz="1700" b="1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  <a:p>
            <a:pPr algn="just">
              <a:lnSpc>
                <a:spcPct val="100000"/>
              </a:lnSpc>
              <a:spcBef>
                <a:spcPts val="340"/>
              </a:spcBef>
            </a:pPr>
            <a:endParaRPr lang="en-US" sz="17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40"/>
              </a:spcBef>
            </a:pPr>
            <a:r>
              <a:rPr lang="en-US" sz="1700" b="1" spc="-1" dirty="0">
                <a:solidFill>
                  <a:srgbClr val="17365D"/>
                </a:solidFill>
                <a:latin typeface="Cambria"/>
                <a:ea typeface="Cambria"/>
              </a:rPr>
              <a:t>Associate Professor</a:t>
            </a:r>
            <a:endParaRPr lang="en-US" sz="1700" spc="-1" dirty="0"/>
          </a:p>
          <a:p>
            <a:pPr algn="just">
              <a:lnSpc>
                <a:spcPct val="100000"/>
              </a:lnSpc>
              <a:spcBef>
                <a:spcPts val="340"/>
              </a:spcBef>
            </a:pPr>
            <a:r>
              <a:rPr lang="en-US" sz="17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School of Computer Science and Engineering</a:t>
            </a:r>
            <a:endParaRPr lang="en-US" sz="17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340"/>
              </a:spcBef>
            </a:pPr>
            <a:r>
              <a:rPr lang="en-US" sz="17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Presidency University</a:t>
            </a:r>
            <a:endParaRPr lang="en-US" sz="17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700" b="0" strike="noStrike" spc="-1" dirty="0">
              <a:latin typeface="Arial"/>
            </a:endParaRPr>
          </a:p>
        </p:txBody>
      </p:sp>
      <p:graphicFrame>
        <p:nvGraphicFramePr>
          <p:cNvPr id="88" name="Table 3"/>
          <p:cNvGraphicFramePr/>
          <p:nvPr>
            <p:extLst>
              <p:ext uri="{D42A27DB-BD31-4B8C-83A1-F6EECF244321}">
                <p14:modId xmlns:p14="http://schemas.microsoft.com/office/powerpoint/2010/main" val="674144739"/>
              </p:ext>
            </p:extLst>
          </p:nvPr>
        </p:nvGraphicFramePr>
        <p:xfrm>
          <a:off x="790560" y="2399040"/>
          <a:ext cx="5261580" cy="2152973"/>
        </p:xfrm>
        <a:graphic>
          <a:graphicData uri="http://schemas.openxmlformats.org/drawingml/2006/table">
            <a:tbl>
              <a:tblPr/>
              <a:tblGrid>
                <a:gridCol w="2308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0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17365D"/>
                          </a:solidFill>
                          <a:latin typeface="Arial"/>
                          <a:ea typeface="Arial"/>
                        </a:rPr>
                        <a:t>Roll Number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17365D"/>
                          </a:solidFill>
                          <a:latin typeface="Arial"/>
                          <a:ea typeface="Arial"/>
                        </a:rPr>
                        <a:t>Student Name</a:t>
                      </a:r>
                      <a:endParaRPr lang="en-US" sz="1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strike="noStrike" spc="-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20231CCS3001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ANKIREDDY BHARATH KUMAR REDDY</a:t>
                      </a:r>
                      <a:endParaRPr lang="en-IN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7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dirty="0"/>
                        <a:t>20221CCS0083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PATHAKOTA VENKATA RAMA MUNI REDDY</a:t>
                      </a:r>
                      <a:r>
                        <a:rPr lang="fi-FI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05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dirty="0"/>
                        <a:t>20221CCS0047 </a:t>
                      </a:r>
                      <a:endParaRPr lang="en-US" sz="18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PADARTHI REVANTH</a:t>
                      </a:r>
                      <a:r>
                        <a:rPr lang="en-I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4"/>
          <p:cNvSpPr/>
          <p:nvPr/>
        </p:nvSpPr>
        <p:spPr>
          <a:xfrm>
            <a:off x="2832120" y="136440"/>
            <a:ext cx="5498640" cy="72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CSE7101- Capstone Project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09"/>
              </a:spcBef>
            </a:pPr>
            <a:r>
              <a:rPr lang="en-US" sz="1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Review-</a:t>
            </a:r>
            <a:r>
              <a:rPr lang="en-US" b="1" spc="-1" dirty="0">
                <a:solidFill>
                  <a:srgbClr val="17365D"/>
                </a:solidFill>
                <a:latin typeface="Cambria"/>
                <a:ea typeface="Cambria"/>
              </a:rPr>
              <a:t>2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90" name="CustomShape 5"/>
          <p:cNvSpPr/>
          <p:nvPr/>
        </p:nvSpPr>
        <p:spPr>
          <a:xfrm>
            <a:off x="0" y="4533840"/>
            <a:ext cx="12249720" cy="156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4F81BD"/>
                </a:solidFill>
                <a:latin typeface="Cambria"/>
                <a:ea typeface="Cambria"/>
              </a:rPr>
              <a:t>Name of the Program: </a:t>
            </a:r>
            <a:r>
              <a:rPr lang="en-US" sz="1800" b="1" strike="noStrike" spc="-1" dirty="0">
                <a:solidFill>
                  <a:srgbClr val="000000"/>
                </a:solidFill>
                <a:latin typeface="Cambria"/>
                <a:ea typeface="Cambria"/>
              </a:rPr>
              <a:t>Computer Science And Engineering-CYBER SECURITY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4F81BD"/>
                </a:solidFill>
                <a:latin typeface="Cambria"/>
                <a:ea typeface="Cambria"/>
              </a:rPr>
              <a:t>Name of the </a:t>
            </a:r>
            <a:r>
              <a:rPr lang="en-US" sz="1800" b="1" strike="noStrike" spc="-1" dirty="0" err="1">
                <a:solidFill>
                  <a:srgbClr val="4F81BD"/>
                </a:solidFill>
                <a:latin typeface="Cambria"/>
                <a:ea typeface="Cambria"/>
              </a:rPr>
              <a:t>HoD</a:t>
            </a:r>
            <a:r>
              <a:rPr lang="en-US" sz="1800" b="1" strike="noStrike" spc="-1" dirty="0">
                <a:solidFill>
                  <a:srgbClr val="4F81BD"/>
                </a:solidFill>
                <a:latin typeface="Cambria"/>
                <a:ea typeface="Cambria"/>
              </a:rPr>
              <a:t>: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ambria"/>
                <a:ea typeface="Cambria"/>
              </a:rPr>
              <a:t>Dr.A</a:t>
            </a:r>
            <a:r>
              <a:rPr lang="en-US" b="1" spc="-1" dirty="0" err="1">
                <a:solidFill>
                  <a:srgbClr val="000000"/>
                </a:solidFill>
                <a:latin typeface="Cambria"/>
                <a:ea typeface="Cambria"/>
              </a:rPr>
              <a:t>nandaraj</a:t>
            </a:r>
            <a:endParaRPr lang="en-US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4F81BD"/>
                </a:solidFill>
                <a:latin typeface="Cambria"/>
                <a:ea typeface="Cambria"/>
              </a:rPr>
              <a:t>Name of the Program Project Coordinator: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ambria"/>
                <a:ea typeface="Cambria"/>
              </a:rPr>
              <a:t>Dr.Jayavadivel</a:t>
            </a:r>
            <a:r>
              <a:rPr lang="en-US" sz="1800" b="1" strike="noStrike" spc="-1" dirty="0">
                <a:solidFill>
                  <a:srgbClr val="000000"/>
                </a:solidFill>
                <a:latin typeface="Cambria"/>
                <a:ea typeface="Cambria"/>
              </a:rPr>
              <a:t> Ravi</a:t>
            </a:r>
            <a:endParaRPr lang="en-US" sz="18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4F81BD"/>
                </a:solidFill>
                <a:latin typeface="Cambria"/>
                <a:ea typeface="Cambria"/>
              </a:rPr>
              <a:t>Name of the School Project Coordinators: </a:t>
            </a:r>
            <a:r>
              <a:rPr lang="en-US" sz="1800" b="1" strike="noStrike" spc="-1" dirty="0">
                <a:solidFill>
                  <a:srgbClr val="000000"/>
                </a:solidFill>
                <a:latin typeface="Cambria"/>
                <a:ea typeface="Cambria"/>
              </a:rPr>
              <a:t>Dr. Sampath A K , Dr. Geetha A 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91" name="TextShape 6"/>
          <p:cNvSpPr txBox="1"/>
          <p:nvPr/>
        </p:nvSpPr>
        <p:spPr>
          <a:xfrm>
            <a:off x="968040" y="1224647"/>
            <a:ext cx="10313640" cy="461665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/>
          <a:p>
            <a:r>
              <a:rPr lang="en-US" sz="2400" b="1" dirty="0" err="1"/>
              <a:t>PhishGuard</a:t>
            </a:r>
            <a:r>
              <a:rPr lang="en-US" sz="2400" b="1" dirty="0"/>
              <a:t> AI: An Interactive Phishing Awareness and Detection App</a:t>
            </a:r>
            <a:endParaRPr lang="en-US" sz="2400" b="1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Content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655920" y="1466280"/>
            <a:ext cx="10667520" cy="392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Abstract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rgbClr val="000000"/>
                </a:solidFill>
                <a:latin typeface="Cambria"/>
                <a:ea typeface="Cambria"/>
              </a:rPr>
              <a:t>Objectives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Existing Methods and Drawbacks</a:t>
            </a: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rgbClr val="000000"/>
                </a:solidFill>
                <a:latin typeface="Cambria"/>
                <a:ea typeface="Cambria"/>
              </a:rPr>
              <a:t>Proposed Metho</a:t>
            </a: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ds &amp; Feasibility Study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2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2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2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Content (continuation)..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573624" y="918360"/>
            <a:ext cx="10667520" cy="392400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endParaRPr lang="en-US" sz="1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Architecture Diagram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Modules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Hardware and Software Details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495360" indent="-342720" algn="just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pc="-1" dirty="0">
                <a:solidFill>
                  <a:srgbClr val="000000"/>
                </a:solidFill>
                <a:latin typeface="Cambria"/>
                <a:ea typeface="Cambria"/>
              </a:rPr>
              <a:t>Timeline(Gantt Chart)</a:t>
            </a:r>
            <a:endParaRPr lang="en-US" sz="2400" b="1" strike="noStrike" spc="-1" dirty="0">
              <a:solidFill>
                <a:srgbClr val="000000"/>
              </a:solidFill>
              <a:latin typeface="Cambria"/>
              <a:ea typeface="Cambria"/>
            </a:endParaRPr>
          </a:p>
          <a:p>
            <a:pPr algn="just">
              <a:lnSpc>
                <a:spcPct val="2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2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200000"/>
              </a:lnSpc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b="1" dirty="0">
                <a:solidFill>
                  <a:srgbClr val="17365D"/>
                </a:solidFill>
              </a:rPr>
              <a:t>Abstract</a:t>
            </a:r>
            <a:r>
              <a:rPr lang="en-US" sz="3200" b="1" dirty="0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93" name="TextShape 2"/>
          <p:cNvSpPr txBox="1"/>
          <p:nvPr/>
        </p:nvSpPr>
        <p:spPr>
          <a:xfrm>
            <a:off x="694008" y="1058443"/>
            <a:ext cx="11155935" cy="5082797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4000"/>
          </a:bodyPr>
          <a:lstStyle/>
          <a:p>
            <a:pPr algn="just"/>
            <a:r>
              <a:rPr lang="en-US" sz="3000" b="1" dirty="0"/>
              <a:t>Content:</a:t>
            </a:r>
          </a:p>
          <a:p>
            <a:pPr algn="just"/>
            <a:endParaRPr lang="en-US" sz="2600" b="1" dirty="0"/>
          </a:p>
          <a:p>
            <a:pPr algn="just"/>
            <a:r>
              <a:rPr lang="en-US" sz="2100" b="1" dirty="0"/>
              <a:t>Problem:</a:t>
            </a:r>
            <a:r>
              <a:rPr lang="en-US" sz="2100" dirty="0"/>
              <a:t> Phishing is one of the most common cyber threats today, targeting users through emails, files, fake Wi-Fi, and malicious links.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b="1" dirty="0"/>
              <a:t>Objective:</a:t>
            </a:r>
            <a:r>
              <a:rPr lang="en-US" sz="2100" dirty="0"/>
              <a:t> To develop a mobile application that combines </a:t>
            </a:r>
            <a:r>
              <a:rPr lang="en-US" sz="2100" i="1" dirty="0"/>
              <a:t>detection</a:t>
            </a:r>
            <a:r>
              <a:rPr lang="en-US" sz="2100" dirty="0"/>
              <a:t> and </a:t>
            </a:r>
            <a:r>
              <a:rPr lang="en-US" sz="2100" i="1" dirty="0"/>
              <a:t>awareness training</a:t>
            </a:r>
            <a:r>
              <a:rPr lang="en-US" sz="2100" dirty="0"/>
              <a:t> against phishing.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b="1" dirty="0"/>
              <a:t>Approach:</a:t>
            </a:r>
            <a:r>
              <a:rPr lang="en-US" sz="2100" dirty="0"/>
              <a:t> The app integrates modules such as Safe Link Checker, File Threat Detector, Email Detector, Wi-Fi Security Checker, AI-powered Chatbot, Quizzes, and Daily Tips. These features provide both real-time protection and awareness through interactive learning.</a:t>
            </a:r>
          </a:p>
          <a:p>
            <a:pPr algn="just"/>
            <a:endParaRPr lang="en-US" sz="2100" dirty="0"/>
          </a:p>
          <a:p>
            <a:pPr algn="just"/>
            <a:r>
              <a:rPr lang="en-US" sz="2100" b="1" dirty="0"/>
              <a:t>Outcome:</a:t>
            </a:r>
            <a:r>
              <a:rPr lang="en-US" sz="2100" dirty="0"/>
              <a:t> A user-friendly, multi-feature platform that educates users and helps prevent falling victim to phishing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653760" y="255600"/>
            <a:ext cx="10667520" cy="388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br>
              <a:rPr dirty="0">
                <a:solidFill>
                  <a:srgbClr val="17365D"/>
                </a:solidFill>
              </a:rPr>
            </a:b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Objectives</a:t>
            </a:r>
            <a:endParaRPr lang="en-US" sz="2800" b="0" strike="noStrike" spc="-1" dirty="0">
              <a:solidFill>
                <a:srgbClr val="17365D"/>
              </a:solidFill>
              <a:latin typeface="Arial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567074" y="1064342"/>
            <a:ext cx="10523713" cy="5110316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Develop a cross-platform </a:t>
            </a:r>
            <a:r>
              <a:rPr lang="en-US" sz="2400" b="1" dirty="0"/>
              <a:t>mobile app</a:t>
            </a:r>
            <a:r>
              <a:rPr lang="en-US" sz="2400" dirty="0"/>
              <a:t> for phishing awareness and detection (Flutter).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Integrate </a:t>
            </a:r>
            <a:r>
              <a:rPr lang="en-US" sz="2400" b="1" dirty="0"/>
              <a:t>AI-based detection</a:t>
            </a:r>
            <a:r>
              <a:rPr lang="en-US" sz="2400" dirty="0"/>
              <a:t> for URLs and message content using NLP and URL analysis.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Provide </a:t>
            </a:r>
            <a:r>
              <a:rPr lang="en-US" sz="2400" b="1" dirty="0"/>
              <a:t>interactive training</a:t>
            </a:r>
            <a:r>
              <a:rPr lang="en-US" sz="2400" dirty="0"/>
              <a:t>: quizzes, gamified challenges, and phishing simulations.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Offer practical </a:t>
            </a:r>
            <a:r>
              <a:rPr lang="en-US" sz="2400" b="1" dirty="0"/>
              <a:t>security tools</a:t>
            </a:r>
            <a:r>
              <a:rPr lang="en-US" sz="2400" dirty="0"/>
              <a:t>: Safe Link Checker, File Threat Detector, Email Analyzer, Wi-Fi Security Checker.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Add a </a:t>
            </a:r>
            <a:r>
              <a:rPr lang="en-US" sz="2400" b="1" dirty="0"/>
              <a:t>helpdesk &amp; dashboard</a:t>
            </a:r>
            <a:r>
              <a:rPr lang="en-US" sz="2400" dirty="0"/>
              <a:t> with progress tracking and certificates for completed training.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Keep system feasible: use free-tier APIs where possible (</a:t>
            </a:r>
            <a:r>
              <a:rPr lang="en-US" sz="2400" dirty="0" err="1"/>
              <a:t>VirusTotal</a:t>
            </a:r>
            <a:r>
              <a:rPr lang="en-US" sz="2400" dirty="0"/>
              <a:t>, Hugging Face / OpenAI for prototype).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CD104-124E-DBF5-2AA1-104685570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application for phishing awareness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812880" y="716400"/>
            <a:ext cx="10667520" cy="453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Existing Methods &amp; Drawbacks</a:t>
            </a: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 </a:t>
            </a:r>
            <a:br>
              <a:rPr lang="en-US" dirty="0"/>
            </a:b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86550B-B965-589B-44C5-3A8EC033C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52" y="1074509"/>
            <a:ext cx="1063329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Awareness Campaigns: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Posters, emails, and online training used by organizations.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Passive learning → users forget easily.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Simulations: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Companies send fake phishing emails to test employees.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Fear-based, limited interactivity, no personalized feedback.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Anti-virus / Security Software: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Detects malicious links/files.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Focuses on detection only, does not educate users.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Browser-based Warnings (e.g., Google Safe Browsing):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Warn users of unsafe websites.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Limited to browsing; cannot cover emails, Wi-Fi, or files.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Apps (awareness or quizzes):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 general tips &amp; multiple-choice questions.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Drawback: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gamification, real-time scanning, and explainable AI feedback.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marL="152280">
              <a:lnSpc>
                <a:spcPct val="200000"/>
              </a:lnSpc>
            </a:pPr>
            <a:r>
              <a:rPr lang="en-US" sz="2800" b="1" spc="-1" dirty="0">
                <a:solidFill>
                  <a:srgbClr val="17365D"/>
                </a:solidFill>
                <a:latin typeface="Cambria"/>
                <a:ea typeface="Cambria"/>
              </a:rPr>
              <a:t>P</a:t>
            </a: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roposed Methods &amp; Feasibility Study	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150C3-9E51-6FA3-BB17-03CCBC423BFA}"/>
              </a:ext>
            </a:extLst>
          </p:cNvPr>
          <p:cNvSpPr txBox="1"/>
          <p:nvPr/>
        </p:nvSpPr>
        <p:spPr>
          <a:xfrm>
            <a:off x="950976" y="1133856"/>
            <a:ext cx="10597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D17E6C3-5E02-6B50-42CC-9F6DA1877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81" y="1480628"/>
            <a:ext cx="1111089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Phishing Awareness Mobile App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combining education + real-time protection.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Modules: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🤖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Chatbot (Gemini)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answers user queries on phishing &amp; security.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 Link Checker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scans suspicious URLs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VirusTotal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📧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Threat Analyzer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detects phishing patterns in email text.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📡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Wi-Fi Security Checker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flags insecure / fake hotspots.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🔐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 Strength Analyzer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checks and suggests strong passwords.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📲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 Cybersecurity Tips (Notifications/Widget)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awareness through reminders.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📁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Threat Detector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scans uploaded files for malware.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🧩 </a:t>
            </a:r>
            <a:r>
              <a:rPr lang="en-US" sz="2000" b="1" dirty="0"/>
              <a:t>Phishing Quiz Module</a:t>
            </a:r>
            <a:r>
              <a:rPr lang="en-US" sz="2000" dirty="0"/>
              <a:t> – tests user awareness with MCQs &amp; scenarios.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🎮 </a:t>
            </a:r>
            <a:r>
              <a:rPr lang="en-US" sz="2000" b="1" dirty="0"/>
              <a:t>Phishing Simulation Module</a:t>
            </a:r>
            <a:r>
              <a:rPr lang="en-US" sz="2000" dirty="0"/>
              <a:t> – sends fake phishing samples (emails/links) to test user response.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6CEC3-01C6-1395-567D-BBC2267BE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324321"/>
            <a:ext cx="10667520" cy="387798"/>
          </a:xfrm>
        </p:spPr>
        <p:txBody>
          <a:bodyPr/>
          <a:lstStyle/>
          <a:p>
            <a:r>
              <a:rPr lang="en-IN" sz="2800" dirty="0">
                <a:solidFill>
                  <a:srgbClr val="17365D"/>
                </a:solidFill>
              </a:rPr>
              <a:t>Architecture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33F3A-CA25-45EC-34EE-29E8456B4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18032"/>
            <a:ext cx="9061704" cy="5097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004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Modules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Shape 2"/>
          <p:cNvSpPr txBox="1"/>
          <p:nvPr/>
        </p:nvSpPr>
        <p:spPr>
          <a:xfrm>
            <a:off x="828922" y="990840"/>
            <a:ext cx="10667520" cy="48763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/>
              <a:t>✅ </a:t>
            </a:r>
            <a:r>
              <a:rPr lang="en-US" b="1" dirty="0"/>
              <a:t>Awareness &amp; Learning Modules</a:t>
            </a:r>
            <a:endParaRPr lang="en-US" dirty="0"/>
          </a:p>
          <a:p>
            <a:pPr algn="just"/>
            <a:r>
              <a:rPr lang="en-US" dirty="0"/>
              <a:t>Quizzes &amp; Simulations</a:t>
            </a:r>
          </a:p>
          <a:p>
            <a:pPr algn="just"/>
            <a:r>
              <a:rPr lang="en-US" dirty="0"/>
              <a:t>Awareness Games</a:t>
            </a:r>
          </a:p>
          <a:p>
            <a:pPr algn="just"/>
            <a:r>
              <a:rPr lang="en-US" dirty="0"/>
              <a:t>Daily Security Tips</a:t>
            </a:r>
          </a:p>
          <a:p>
            <a:pPr algn="just"/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dirty="0"/>
              <a:t>✅ </a:t>
            </a:r>
            <a:r>
              <a:rPr lang="en-IN" b="1" dirty="0"/>
              <a:t>Detection &amp; Security Modules</a:t>
            </a:r>
            <a:endParaRPr lang="en-IN" dirty="0"/>
          </a:p>
          <a:p>
            <a:pPr algn="just"/>
            <a:r>
              <a:rPr lang="en-IN" dirty="0"/>
              <a:t>Safe Link Checker (</a:t>
            </a:r>
            <a:r>
              <a:rPr lang="en-IN" dirty="0" err="1"/>
              <a:t>VirusTotal</a:t>
            </a:r>
            <a:r>
              <a:rPr lang="en-IN" dirty="0"/>
              <a:t> API)</a:t>
            </a:r>
          </a:p>
          <a:p>
            <a:pPr algn="just"/>
            <a:r>
              <a:rPr lang="en-IN" dirty="0"/>
              <a:t>File Scanner (</a:t>
            </a:r>
            <a:r>
              <a:rPr lang="en-IN" dirty="0" err="1"/>
              <a:t>VirusTotal</a:t>
            </a:r>
            <a:r>
              <a:rPr lang="en-IN" dirty="0"/>
              <a:t> API)</a:t>
            </a:r>
          </a:p>
          <a:p>
            <a:pPr algn="just"/>
            <a:r>
              <a:rPr lang="en-IN" dirty="0"/>
              <a:t>Wi-Fi Security Checker</a:t>
            </a:r>
          </a:p>
          <a:p>
            <a:pPr algn="just"/>
            <a:r>
              <a:rPr lang="en-IN" dirty="0"/>
              <a:t>Email Threat Detector</a:t>
            </a:r>
          </a:p>
          <a:p>
            <a:pPr algn="just"/>
            <a:r>
              <a:rPr lang="en-IN" dirty="0"/>
              <a:t>Password Strength Analyzer</a:t>
            </a:r>
          </a:p>
          <a:p>
            <a:pPr algn="just"/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✅ </a:t>
            </a:r>
            <a:r>
              <a:rPr lang="en-IN" b="1" dirty="0"/>
              <a:t>Engagement Modules</a:t>
            </a:r>
          </a:p>
          <a:p>
            <a:pPr algn="just"/>
            <a:r>
              <a:rPr lang="en-IN" dirty="0"/>
              <a:t>Gamified Learning</a:t>
            </a:r>
          </a:p>
          <a:p>
            <a:pPr algn="just"/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dirty="0"/>
              <a:t>✅ </a:t>
            </a:r>
            <a:r>
              <a:rPr lang="en-IN" b="1" dirty="0"/>
              <a:t>AI Modules</a:t>
            </a:r>
            <a:endParaRPr lang="en-IN" dirty="0"/>
          </a:p>
          <a:p>
            <a:pPr algn="just"/>
            <a:r>
              <a:rPr lang="en-IN" dirty="0"/>
              <a:t>Chatbot (Gemini API)</a:t>
            </a:r>
          </a:p>
          <a:p>
            <a:pPr algn="just"/>
            <a:r>
              <a:rPr lang="en-IN" dirty="0"/>
              <a:t>AI Threat Prediction(Virus Total)</a:t>
            </a:r>
          </a:p>
          <a:p>
            <a:pPr algn="just"/>
            <a:endParaRPr lang="en-IN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>
              <a:lnSpc>
                <a:spcPct val="100000"/>
              </a:lnSpc>
              <a:spcBef>
                <a:spcPts val="479"/>
              </a:spcBef>
            </a:pPr>
            <a:endParaRPr lang="en-US" b="0" strike="noStrike" spc="-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Hardware &amp; Software Details</a:t>
            </a:r>
            <a:endParaRPr lang="en-US" sz="2800" b="0" strike="noStrike" spc="-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5" name="TextShape 2"/>
          <p:cNvSpPr txBox="1"/>
          <p:nvPr/>
        </p:nvSpPr>
        <p:spPr>
          <a:xfrm>
            <a:off x="913548" y="1184945"/>
            <a:ext cx="10667520" cy="4952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Software &amp; Hardware Requirements</a:t>
            </a:r>
          </a:p>
          <a:p>
            <a:pPr algn="just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Software: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Frontend: Flutter(cross-platform mobile)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Backend: Firebase(Authentication)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Database: SQLite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APIs:Virustotal,PhishTank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API</a:t>
            </a:r>
          </a:p>
          <a:p>
            <a:pPr algn="just"/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Hardware: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Smartphone(Android/IOS),Internet access</a:t>
            </a:r>
          </a:p>
          <a:p>
            <a:pPr marL="76680" algn="just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47770" indent="-171450" algn="just">
              <a:lnSpc>
                <a:spcPct val="100000"/>
              </a:lnSpc>
              <a:spcBef>
                <a:spcPts val="479"/>
              </a:spcBef>
              <a:buFont typeface="Wingdings" panose="05000000000000000000" pitchFamily="2" charset="2"/>
              <a:buChar char="§"/>
            </a:pPr>
            <a:endParaRPr lang="en-US" b="0" strike="noStrike" spc="-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</a:pPr>
            <a:endParaRPr lang="en-US" sz="2400" b="0" strike="noStrike" spc="-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00000"/>
              </a:lnSpc>
              <a:spcBef>
                <a:spcPts val="479"/>
              </a:spcBef>
            </a:pPr>
            <a:endParaRPr lang="en-US" sz="2400" b="0" strike="noStrike" spc="-1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marL="152280">
              <a:lnSpc>
                <a:spcPct val="200000"/>
              </a:lnSpc>
            </a:pPr>
            <a:r>
              <a:rPr lang="en-US" sz="2800" b="1" strike="noStrike" spc="-1">
                <a:solidFill>
                  <a:srgbClr val="17365D"/>
                </a:solidFill>
                <a:latin typeface="Cambria"/>
                <a:ea typeface="Cambria"/>
              </a:rPr>
              <a:t>Github Link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812880" y="1143000"/>
            <a:ext cx="10667520" cy="4952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343080" indent="-190080" algn="just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190080" algn="just">
              <a:lnSpc>
                <a:spcPct val="1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965160" y="1295280"/>
            <a:ext cx="10667520" cy="4952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 marL="343080" indent="-190080" algn="just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343080" indent="-190080" algn="just">
              <a:lnSpc>
                <a:spcPct val="100000"/>
              </a:lnSpc>
            </a:pPr>
            <a:endParaRPr lang="en-US" sz="1800" b="0" strike="noStrike" spc="-1"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1800" b="0" strike="noStrike" spc="-1"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1800" b="0" strike="noStrike" spc="-1"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11" name="CustomShape 4"/>
          <p:cNvSpPr/>
          <p:nvPr/>
        </p:nvSpPr>
        <p:spPr>
          <a:xfrm>
            <a:off x="812880" y="1143000"/>
            <a:ext cx="10667520" cy="4177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 marL="343080" indent="-190080" algn="just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latin typeface="Cambria"/>
                <a:ea typeface="Cambria"/>
              </a:rPr>
              <a:t>The GitHub link provided should have public access permission.</a:t>
            </a:r>
            <a:endParaRPr lang="en-US" sz="2400" b="0" strike="noStrike" spc="-1" dirty="0">
              <a:latin typeface="Arial"/>
            </a:endParaRPr>
          </a:p>
          <a:p>
            <a:pPr marL="343080" indent="-190080" algn="just">
              <a:lnSpc>
                <a:spcPct val="100000"/>
              </a:lnSpc>
            </a:pPr>
            <a:endParaRPr lang="en-US" sz="2400" b="0" strike="noStrike" spc="-1" dirty="0">
              <a:latin typeface="Arial"/>
            </a:endParaRPr>
          </a:p>
          <a:p>
            <a:pPr marL="343080" indent="-190080" algn="just"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953735"/>
                </a:solidFill>
                <a:latin typeface="Cambria"/>
                <a:ea typeface="Cambria"/>
              </a:rPr>
              <a:t>GitHub Link</a:t>
            </a:r>
            <a:endParaRPr lang="en-US" sz="2400" b="0" strike="noStrike" spc="-1" dirty="0">
              <a:latin typeface="Arial"/>
            </a:endParaRPr>
          </a:p>
          <a:p>
            <a:pPr marL="343080" indent="-190080" algn="just">
              <a:lnSpc>
                <a:spcPct val="100000"/>
              </a:lnSpc>
            </a:pPr>
            <a:r>
              <a:rPr lang="en-US" sz="2400" spc="-1" dirty="0">
                <a:hlinkClick r:id="rId2"/>
              </a:rPr>
              <a:t>https://github.com/phishguardai252-png/phishguard-ai</a:t>
            </a:r>
            <a:endParaRPr lang="en-US" sz="2400" b="0" strike="noStrike" spc="-1" dirty="0">
              <a:latin typeface="Arial"/>
            </a:endParaRPr>
          </a:p>
          <a:p>
            <a:pPr marL="343080" indent="-190080" algn="just">
              <a:lnSpc>
                <a:spcPct val="200000"/>
              </a:lnSpc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812880" y="27468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17365D"/>
                </a:solidFill>
                <a:latin typeface="Cambria"/>
                <a:ea typeface="Cambria"/>
              </a:rPr>
              <a:t>Timeline of the Project (Gantt Chart)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Shape 2"/>
          <p:cNvSpPr txBox="1"/>
          <p:nvPr/>
        </p:nvSpPr>
        <p:spPr>
          <a:xfrm>
            <a:off x="812880" y="1143000"/>
            <a:ext cx="10667520" cy="495252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C4BC24-DB9C-927C-5C51-F9F81B3A9519}"/>
              </a:ext>
            </a:extLst>
          </p:cNvPr>
          <p:cNvSpPr/>
          <p:nvPr/>
        </p:nvSpPr>
        <p:spPr>
          <a:xfrm>
            <a:off x="4647501" y="5285064"/>
            <a:ext cx="545284" cy="429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94AA1-871E-C680-B604-C1869ADAD684}"/>
              </a:ext>
            </a:extLst>
          </p:cNvPr>
          <p:cNvSpPr txBox="1"/>
          <p:nvPr/>
        </p:nvSpPr>
        <p:spPr>
          <a:xfrm rot="18659274">
            <a:off x="4748169" y="5324285"/>
            <a:ext cx="6962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717171"/>
                </a:solidFill>
              </a:rPr>
              <a:t>20-Aug</a:t>
            </a:r>
            <a:endParaRPr lang="en-IN" sz="1100" dirty="0">
              <a:solidFill>
                <a:srgbClr val="717171"/>
              </a:solidFill>
            </a:endParaRPr>
          </a:p>
        </p:txBody>
      </p:sp>
      <p:sp>
        <p:nvSpPr>
          <p:cNvPr id="3" name="AutoShape 4" descr="Output image">
            <a:extLst>
              <a:ext uri="{FF2B5EF4-FFF2-40B4-BE49-F238E27FC236}">
                <a16:creationId xmlns:a16="http://schemas.microsoft.com/office/drawing/2014/main" id="{960B83B2-4A50-B4FB-E8E0-129CC60416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E4BD8-7314-61AB-6B78-2BFAFF4C8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224" y="1188715"/>
            <a:ext cx="10270654" cy="46149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762240" y="275400"/>
            <a:ext cx="10667520" cy="4870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17365D"/>
                </a:solidFill>
                <a:latin typeface="Cambria"/>
                <a:ea typeface="Cambria"/>
              </a:rPr>
              <a:t>References (IEEE Paper format)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812880" y="1143000"/>
            <a:ext cx="10667520" cy="495252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7500" lnSpcReduction="20000"/>
          </a:bodyPr>
          <a:lstStyle/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[1] M. F. Ansari, P. K. Sharma, and B. Dash, “Prevention of Phishing Attacks Using AI-Based Cybersecurity Awareness Training,” Int. J. Smart Sensor and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Adhoc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Network, vol. 3, no. 3, Article 6, Mar. 2022.</a:t>
            </a: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[2] O.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Ogundairo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and P.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Broklyn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“AI-Driven Phishing Detection Systems,” J. Cyber Security, Aug. 2024.</a:t>
            </a: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[3] A. Arun, “Next Generation of Phishing Attacks using AI-powered Browsers,” IEEE,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preprint, 2024.</a:t>
            </a: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[4] A.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Rahartomo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A. T. A. Ghaleb, and M. Ghafari, “Phishing Awareness via Game-Based Learning,”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preprint, Jan. 2025.</a:t>
            </a: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[5] R. Meguro and S. T. Chong, “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AdaPhish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AI-Powered Adaptive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Defense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and Education Resource Against Deceptive Emails,”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preprint, Feb. 2025.</a:t>
            </a: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[6] L. Huang, S. Jia, E.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Balcetis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and Q. Zhu, “ADVERT: An Adaptive and Data-Driven Attention Enhancement Mechanism for Phishing Prevention,”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preprint, Jun. 2021.</a:t>
            </a:r>
          </a:p>
          <a:p>
            <a:pPr algn="just"/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[7] N. A. G.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Arachchilage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“User-Centred Security Education: A Game Design to Thwart Phishing Attacks,”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arXiv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preprint, Nov. 2015.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4"/>
          <p:cNvPicPr/>
          <p:nvPr/>
        </p:nvPicPr>
        <p:blipFill>
          <a:blip r:embed="rId2"/>
          <a:stretch/>
        </p:blipFill>
        <p:spPr>
          <a:xfrm>
            <a:off x="4082760" y="1441440"/>
            <a:ext cx="3893040" cy="3935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1450</TotalTime>
  <Words>1006</Words>
  <Application>Microsoft Office PowerPoint</Application>
  <PresentationFormat>Widescreen</PresentationFormat>
  <Paragraphs>144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Cambria</vt:lpstr>
      <vt:lpstr>Symbol</vt:lpstr>
      <vt:lpstr>Times New Roman</vt:lpstr>
      <vt:lpstr>Verdana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subject/>
  <dc:creator>Admin</dc:creator>
  <dc:description/>
  <cp:lastModifiedBy>Bharath Ankireddy</cp:lastModifiedBy>
  <cp:revision>62</cp:revision>
  <dcterms:modified xsi:type="dcterms:W3CDTF">2025-09-10T10:12:37Z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13</vt:i4>
  </property>
</Properties>
</file>